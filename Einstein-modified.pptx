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58"/>
  </p:normalViewPr>
  <p:slideViewPr>
    <p:cSldViewPr snapToGrid="0">
      <p:cViewPr varScale="1">
        <p:scale>
          <a:sx n="154" d="100"/>
          <a:sy n="154" d="100"/>
        </p:scale>
        <p:origin x="43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E063E-417B-402F-A573-EB395D0F0553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22E68-6962-4C28-AF01-128BA31EB7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61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35552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88216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2220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1558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7767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15892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77779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39698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9588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1279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17787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F6F72-0365-4B1A-A2A9-E44F58A1ABF8}" type="datetime1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198E8-C008-4CC8-A6C9-CC8B6BF0CB1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i.org/10.1002/andp.19053231314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DFAB69-1A31-4735-CFF8-E97170E2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89" y="82962"/>
            <a:ext cx="10515600" cy="887719"/>
          </a:xfrm>
        </p:spPr>
        <p:txBody>
          <a:bodyPr>
            <a:normAutofit/>
          </a:bodyPr>
          <a:lstStyle/>
          <a:p>
            <a:pPr algn="ctr"/>
            <a:r>
              <a:rPr lang="en-US" altLang="zh-CN" sz="4800" dirty="0">
                <a:latin typeface="+mn-lt"/>
              </a:rPr>
              <a:t>Mass-energy equivalence</a:t>
            </a:r>
            <a:endParaRPr lang="en-US" sz="4800" dirty="0">
              <a:latin typeface="+mn-lt"/>
            </a:endParaRP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58F5FC65-52DC-537A-47EA-C4B0F47D029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3608842" y="3709649"/>
            <a:ext cx="4484914" cy="1889701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en-US" sz="2000" dirty="0"/>
              <a:t>Connects mass and energy</a:t>
            </a:r>
          </a:p>
          <a:p>
            <a:r>
              <a:rPr lang="en-US" sz="2000" dirty="0"/>
              <a:t>Energy release in nuclear reactions</a:t>
            </a:r>
          </a:p>
          <a:p>
            <a:pPr lvl="1"/>
            <a:r>
              <a:rPr lang="en-US" sz="1800" dirty="0"/>
              <a:t>Fission and fusion</a:t>
            </a:r>
          </a:p>
          <a:p>
            <a:pPr lvl="1"/>
            <a:r>
              <a:rPr lang="en-US" sz="1800" dirty="0"/>
              <a:t>Stellar energy source</a:t>
            </a:r>
          </a:p>
          <a:p>
            <a:pPr lvl="1"/>
            <a:r>
              <a:rPr lang="en-US" sz="1800" dirty="0"/>
              <a:t>Nuclear power</a:t>
            </a:r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CEC59E51-B56B-D9A5-4FC1-C2D7471F6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70" y="6046727"/>
            <a:ext cx="11523642" cy="492443"/>
          </a:xfrm>
        </p:spPr>
        <p:txBody>
          <a:bodyPr/>
          <a:lstStyle/>
          <a:p>
            <a:r>
              <a:rPr lang="de-DE" sz="1800" dirty="0"/>
              <a:t>Einstein, A. (1905), Ist die Trägheit eines Körpers von seinem Energieinhalt abhängig?. Ann. Phys., 323: 639-641 </a:t>
            </a:r>
            <a:r>
              <a:rPr lang="de-DE" sz="1800" dirty="0">
                <a:hlinkClick r:id="rId2"/>
              </a:rPr>
              <a:t>https://doi.org/10.1002/andp.19053231314</a:t>
            </a:r>
            <a:r>
              <a:rPr lang="de-DE" sz="1800" dirty="0"/>
              <a:t> </a:t>
            </a:r>
            <a:endParaRPr lang="en-US" sz="1800" dirty="0"/>
          </a:p>
        </p:txBody>
      </p:sp>
      <p:sp>
        <p:nvSpPr>
          <p:cNvPr id="28" name="Foliennummernplatzhalter 27">
            <a:extLst>
              <a:ext uri="{FF2B5EF4-FFF2-40B4-BE49-F238E27FC236}">
                <a16:creationId xmlns:a16="http://schemas.microsoft.com/office/drawing/2014/main" id="{53365E34-9538-1335-6E07-36438B9A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6175" y="6105332"/>
            <a:ext cx="606631" cy="365125"/>
          </a:xfrm>
        </p:spPr>
        <p:txBody>
          <a:bodyPr/>
          <a:lstStyle/>
          <a:p>
            <a:fld id="{F81198E8-C008-4CC8-A6C9-CC8B6BF0CB12}" type="slidenum">
              <a:rPr lang="en-US" sz="2400" smtClean="0">
                <a:solidFill>
                  <a:schemeClr val="tx1"/>
                </a:solidFill>
              </a:rPr>
              <a:t>1</a:t>
            </a:fld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2FE791BF-BB28-DA92-1CD4-F6B8001B3786}"/>
              </a:ext>
            </a:extLst>
          </p:cNvPr>
          <p:cNvGrpSpPr/>
          <p:nvPr/>
        </p:nvGrpSpPr>
        <p:grpSpPr>
          <a:xfrm>
            <a:off x="626948" y="1750490"/>
            <a:ext cx="2177143" cy="2970302"/>
            <a:chOff x="810498" y="1268961"/>
            <a:chExt cx="2177143" cy="2970302"/>
          </a:xfrm>
        </p:grpSpPr>
        <p:pic>
          <p:nvPicPr>
            <p:cNvPr id="1026" name="Picture 2" descr="Free albert einstein scientist physics vector">
              <a:extLst>
                <a:ext uri="{FF2B5EF4-FFF2-40B4-BE49-F238E27FC236}">
                  <a16:creationId xmlns:a16="http://schemas.microsoft.com/office/drawing/2014/main" id="{22EC92E2-D434-C289-1F0D-663F5C7072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372" y="1268961"/>
              <a:ext cx="1839396" cy="23855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6D1AD328-1E00-F8DA-8C69-A1F27FC9B752}"/>
                </a:ext>
              </a:extLst>
            </p:cNvPr>
            <p:cNvSpPr txBox="1"/>
            <p:nvPr/>
          </p:nvSpPr>
          <p:spPr>
            <a:xfrm>
              <a:off x="810498" y="3654488"/>
              <a:ext cx="21771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ea typeface="+mj-ea"/>
                  <a:cs typeface="+mj-cs"/>
                </a:rPr>
                <a:t>Albert Einstein</a:t>
              </a:r>
            </a:p>
            <a:p>
              <a:pPr algn="ctr"/>
              <a:r>
                <a:rPr lang="en-US" sz="1200" dirty="0">
                  <a:ea typeface="+mj-ea"/>
                  <a:cs typeface="+mj-cs"/>
                </a:rPr>
                <a:t>Picture Credit: </a:t>
              </a:r>
              <a:r>
                <a:rPr lang="en-US" sz="1200" dirty="0" err="1">
                  <a:ea typeface="+mj-ea"/>
                  <a:cs typeface="+mj-cs"/>
                </a:rPr>
                <a:t>Pixabay</a:t>
              </a:r>
              <a:endParaRPr lang="en-US" sz="1200" dirty="0">
                <a:ea typeface="+mj-ea"/>
                <a:cs typeface="+mj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5D517C4-E456-E2BA-1476-C287DD6342E0}"/>
                  </a:ext>
                </a:extLst>
              </p:cNvPr>
              <p:cNvSpPr txBox="1"/>
              <p:nvPr/>
            </p:nvSpPr>
            <p:spPr>
              <a:xfrm>
                <a:off x="3736610" y="1634579"/>
                <a:ext cx="4229378" cy="110799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66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6600" i="1" dirty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sz="66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6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66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5D517C4-E456-E2BA-1476-C287DD634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610" y="1634579"/>
                <a:ext cx="4229378" cy="1107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EA752BBB-E0DA-758E-6A57-4725D30A99E1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4263285" y="2543175"/>
            <a:ext cx="155878" cy="4736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AC54A74B-1761-3DC3-B773-FE85A31FEF70}"/>
              </a:ext>
            </a:extLst>
          </p:cNvPr>
          <p:cNvSpPr txBox="1"/>
          <p:nvPr/>
        </p:nvSpPr>
        <p:spPr>
          <a:xfrm>
            <a:off x="3096757" y="3016872"/>
            <a:ext cx="2333056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+mn-lt"/>
                <a:ea typeface="+mn-ea"/>
                <a:cs typeface="+mn-cs"/>
              </a:rPr>
              <a:t>Rest Energy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9A12B91-6B3C-376A-4410-3883E516973A}"/>
              </a:ext>
            </a:extLst>
          </p:cNvPr>
          <p:cNvSpPr txBox="1"/>
          <p:nvPr/>
        </p:nvSpPr>
        <p:spPr>
          <a:xfrm>
            <a:off x="5165923" y="3013139"/>
            <a:ext cx="257210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US" dirty="0"/>
              <a:t>Particle mass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C59AEA4-9DF5-CB32-A2B6-DA6883AFB14E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6288658" y="2543175"/>
            <a:ext cx="163320" cy="469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1E8C8F3E-6C13-12E0-05BA-C9919384F14B}"/>
              </a:ext>
            </a:extLst>
          </p:cNvPr>
          <p:cNvSpPr txBox="1"/>
          <p:nvPr/>
        </p:nvSpPr>
        <p:spPr>
          <a:xfrm>
            <a:off x="5478942" y="1096648"/>
            <a:ext cx="2333056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US" dirty="0"/>
              <a:t>Speed of light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20327619-5B50-D31A-6BD9-F3E79BDCA0D0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6645470" y="1496758"/>
            <a:ext cx="203005" cy="5160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F34E572D-3BE8-1257-78F2-F41B5D44C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14F56A8-513B-CAA5-74AA-D51B6B4338AF}"/>
              </a:ext>
            </a:extLst>
          </p:cNvPr>
          <p:cNvGrpSpPr/>
          <p:nvPr/>
        </p:nvGrpSpPr>
        <p:grpSpPr>
          <a:xfrm>
            <a:off x="8712748" y="2386604"/>
            <a:ext cx="3100493" cy="3377492"/>
            <a:chOff x="8712748" y="2430144"/>
            <a:chExt cx="3100493" cy="337749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EC0BD8D-3262-6C10-F7E6-63638A39C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12748" y="2430144"/>
              <a:ext cx="3100493" cy="3100493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9D7DB419-E93F-536E-2E21-A550B9324EAC}"/>
                </a:ext>
              </a:extLst>
            </p:cNvPr>
            <p:cNvSpPr txBox="1"/>
            <p:nvPr/>
          </p:nvSpPr>
          <p:spPr>
            <a:xfrm>
              <a:off x="9235782" y="5530637"/>
              <a:ext cx="21771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ea typeface="+mj-ea"/>
                  <a:cs typeface="+mj-cs"/>
                </a:rPr>
                <a:t>With AI imagined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4077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4974</TotalTime>
  <Words>75</Words>
  <Application>Microsoft Office PowerPoint</Application>
  <PresentationFormat>Breitbild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2013 - 2022 Theme</vt:lpstr>
      <vt:lpstr>Mass-energy equivalence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combine measurement results</dc:title>
  <dc:creator>Yuzhe Zhang</dc:creator>
  <cp:lastModifiedBy>Yuzhe Zhang</cp:lastModifiedBy>
  <cp:revision>8</cp:revision>
  <dcterms:created xsi:type="dcterms:W3CDTF">2024-05-27T13:11:37Z</dcterms:created>
  <dcterms:modified xsi:type="dcterms:W3CDTF">2024-07-08T11:35:09Z</dcterms:modified>
</cp:coreProperties>
</file>